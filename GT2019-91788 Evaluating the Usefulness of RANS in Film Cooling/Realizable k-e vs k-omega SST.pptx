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
  </p:notesMasterIdLst>
  <p:handoutMasterIdLst>
    <p:handoutMasterId r:id="rId6"/>
  </p:handoutMasterIdLst>
  <p:sldIdLst>
    <p:sldId id="256" r:id="rId2"/>
    <p:sldId id="257" r:id="rId3"/>
    <p:sldId id="258" r:id="rId4"/>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AAFF"/>
    <a:srgbClr val="007EFF"/>
    <a:srgbClr val="007F80"/>
    <a:srgbClr val="006400"/>
    <a:srgbClr val="BF5700"/>
    <a:srgbClr val="7A9753"/>
    <a:srgbClr val="FF9900"/>
    <a:srgbClr val="00EE00"/>
    <a:srgbClr val="B45700"/>
    <a:srgbClr val="CF6B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6305" autoAdjust="0"/>
  </p:normalViewPr>
  <p:slideViewPr>
    <p:cSldViewPr snapToGrid="0">
      <p:cViewPr varScale="1">
        <p:scale>
          <a:sx n="122" d="100"/>
          <a:sy n="122" d="100"/>
        </p:scale>
        <p:origin x="1512" y="90"/>
      </p:cViewPr>
      <p:guideLst>
        <p:guide orient="horz" pos="2160"/>
        <p:guide pos="2880"/>
      </p:guideLst>
    </p:cSldViewPr>
  </p:slideViewPr>
  <p:notesTextViewPr>
    <p:cViewPr>
      <p:scale>
        <a:sx n="3" d="2"/>
        <a:sy n="3" d="2"/>
      </p:scale>
      <p:origin x="0" y="0"/>
    </p:cViewPr>
  </p:notesTextViewPr>
  <p:sorterViewPr>
    <p:cViewPr varScale="1">
      <p:scale>
        <a:sx n="1" d="1"/>
        <a:sy n="1" d="1"/>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64820"/>
          </a:xfrm>
          <a:prstGeom prst="rect">
            <a:avLst/>
          </a:prstGeom>
        </p:spPr>
        <p:txBody>
          <a:bodyPr vert="horz" lIns="92757" tIns="46378" rIns="92757" bIns="46378"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64820"/>
          </a:xfrm>
          <a:prstGeom prst="rect">
            <a:avLst/>
          </a:prstGeom>
        </p:spPr>
        <p:txBody>
          <a:bodyPr vert="horz" lIns="92757" tIns="46378" rIns="92757" bIns="46378" rtlCol="0"/>
          <a:lstStyle>
            <a:lvl1pPr algn="r">
              <a:defRPr sz="1200"/>
            </a:lvl1pPr>
          </a:lstStyle>
          <a:p>
            <a:fld id="{C84A0F8A-07E4-4267-AC20-AFC3C0994470}" type="datetimeFigureOut">
              <a:rPr lang="en-US" smtClean="0"/>
              <a:t>1/4/2019</a:t>
            </a:fld>
            <a:endParaRPr lang="en-US"/>
          </a:p>
        </p:txBody>
      </p:sp>
      <p:sp>
        <p:nvSpPr>
          <p:cNvPr id="4" name="Footer Placeholder 3"/>
          <p:cNvSpPr>
            <a:spLocks noGrp="1"/>
          </p:cNvSpPr>
          <p:nvPr>
            <p:ph type="ftr" sz="quarter" idx="2"/>
          </p:nvPr>
        </p:nvSpPr>
        <p:spPr>
          <a:xfrm>
            <a:off x="0" y="8829968"/>
            <a:ext cx="2971800" cy="464820"/>
          </a:xfrm>
          <a:prstGeom prst="rect">
            <a:avLst/>
          </a:prstGeom>
        </p:spPr>
        <p:txBody>
          <a:bodyPr vert="horz" lIns="92757" tIns="46378" rIns="92757" bIns="4637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8"/>
            <a:ext cx="2971800" cy="464820"/>
          </a:xfrm>
          <a:prstGeom prst="rect">
            <a:avLst/>
          </a:prstGeom>
        </p:spPr>
        <p:txBody>
          <a:bodyPr vert="horz" lIns="92757" tIns="46378" rIns="92757" bIns="46378" rtlCol="0" anchor="b"/>
          <a:lstStyle>
            <a:lvl1pPr algn="r">
              <a:defRPr sz="1200"/>
            </a:lvl1pPr>
          </a:lstStyle>
          <a:p>
            <a:fld id="{7DB495ED-73B2-4E25-8792-00EBAAE9C93E}" type="slidenum">
              <a:rPr lang="en-US" smtClean="0"/>
              <a:t>‹#›</a:t>
            </a:fld>
            <a:endParaRPr lang="en-US"/>
          </a:p>
        </p:txBody>
      </p:sp>
    </p:spTree>
    <p:extLst>
      <p:ext uri="{BB962C8B-B14F-4D97-AF65-F5344CB8AC3E}">
        <p14:creationId xmlns:p14="http://schemas.microsoft.com/office/powerpoint/2010/main" val="3694095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64820"/>
          </a:xfrm>
          <a:prstGeom prst="rect">
            <a:avLst/>
          </a:prstGeom>
        </p:spPr>
        <p:txBody>
          <a:bodyPr vert="horz" lIns="92757" tIns="46378" rIns="92757" bIns="46378" rtlCol="0"/>
          <a:lstStyle>
            <a:lvl1pPr algn="l">
              <a:defRPr sz="1200"/>
            </a:lvl1pPr>
          </a:lstStyle>
          <a:p>
            <a:endParaRPr lang="en-US"/>
          </a:p>
        </p:txBody>
      </p:sp>
      <p:sp>
        <p:nvSpPr>
          <p:cNvPr id="3" name="Date Placeholder 2"/>
          <p:cNvSpPr>
            <a:spLocks noGrp="1"/>
          </p:cNvSpPr>
          <p:nvPr>
            <p:ph type="dt" idx="1"/>
          </p:nvPr>
        </p:nvSpPr>
        <p:spPr>
          <a:xfrm>
            <a:off x="3884613" y="1"/>
            <a:ext cx="2971800" cy="464820"/>
          </a:xfrm>
          <a:prstGeom prst="rect">
            <a:avLst/>
          </a:prstGeom>
        </p:spPr>
        <p:txBody>
          <a:bodyPr vert="horz" lIns="92757" tIns="46378" rIns="92757" bIns="46378" rtlCol="0"/>
          <a:lstStyle>
            <a:lvl1pPr algn="r">
              <a:defRPr sz="1200"/>
            </a:lvl1pPr>
          </a:lstStyle>
          <a:p>
            <a:fld id="{4DA69CED-1F71-4610-BADF-C9E1981377BC}" type="datetimeFigureOut">
              <a:rPr lang="en-US" smtClean="0"/>
              <a:t>1/4/2019</a:t>
            </a:fld>
            <a:endParaRPr lang="en-US"/>
          </a:p>
        </p:txBody>
      </p:sp>
      <p:sp>
        <p:nvSpPr>
          <p:cNvPr id="4" name="Slide Image Placeholder 3"/>
          <p:cNvSpPr>
            <a:spLocks noGrp="1" noRot="1" noChangeAspect="1"/>
          </p:cNvSpPr>
          <p:nvPr>
            <p:ph type="sldImg" idx="2"/>
          </p:nvPr>
        </p:nvSpPr>
        <p:spPr>
          <a:xfrm>
            <a:off x="1104900" y="695325"/>
            <a:ext cx="4648200" cy="3487738"/>
          </a:xfrm>
          <a:prstGeom prst="rect">
            <a:avLst/>
          </a:prstGeom>
          <a:noFill/>
          <a:ln w="12700">
            <a:solidFill>
              <a:prstClr val="black"/>
            </a:solidFill>
          </a:ln>
        </p:spPr>
        <p:txBody>
          <a:bodyPr vert="horz" lIns="92757" tIns="46378" rIns="92757" bIns="46378" rtlCol="0" anchor="ctr"/>
          <a:lstStyle/>
          <a:p>
            <a:endParaRPr lang="en-US"/>
          </a:p>
        </p:txBody>
      </p:sp>
      <p:sp>
        <p:nvSpPr>
          <p:cNvPr id="5" name="Notes Placeholder 4"/>
          <p:cNvSpPr>
            <a:spLocks noGrp="1"/>
          </p:cNvSpPr>
          <p:nvPr>
            <p:ph type="body" sz="quarter" idx="3"/>
          </p:nvPr>
        </p:nvSpPr>
        <p:spPr>
          <a:xfrm>
            <a:off x="685800" y="4415791"/>
            <a:ext cx="5486400" cy="4183380"/>
          </a:xfrm>
          <a:prstGeom prst="rect">
            <a:avLst/>
          </a:prstGeom>
        </p:spPr>
        <p:txBody>
          <a:bodyPr vert="horz" lIns="92757" tIns="46378" rIns="92757" bIns="4637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2971800" cy="464820"/>
          </a:xfrm>
          <a:prstGeom prst="rect">
            <a:avLst/>
          </a:prstGeom>
        </p:spPr>
        <p:txBody>
          <a:bodyPr vert="horz" lIns="92757" tIns="46378" rIns="92757" bIns="46378"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968"/>
            <a:ext cx="2971800" cy="464820"/>
          </a:xfrm>
          <a:prstGeom prst="rect">
            <a:avLst/>
          </a:prstGeom>
        </p:spPr>
        <p:txBody>
          <a:bodyPr vert="horz" lIns="92757" tIns="46378" rIns="92757" bIns="46378" rtlCol="0" anchor="b"/>
          <a:lstStyle>
            <a:lvl1pPr algn="r">
              <a:defRPr sz="1200"/>
            </a:lvl1pPr>
          </a:lstStyle>
          <a:p>
            <a:fld id="{4DBAB07E-2790-45EE-88FD-FAFB7DF28960}" type="slidenum">
              <a:rPr lang="en-US" smtClean="0"/>
              <a:t>‹#›</a:t>
            </a:fld>
            <a:endParaRPr lang="en-US"/>
          </a:p>
        </p:txBody>
      </p:sp>
    </p:spTree>
    <p:extLst>
      <p:ext uri="{BB962C8B-B14F-4D97-AF65-F5344CB8AC3E}">
        <p14:creationId xmlns:p14="http://schemas.microsoft.com/office/powerpoint/2010/main" val="2596451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pattFill prst="pct20">
          <a:fgClr>
            <a:schemeClr val="bg1">
              <a:lumMod val="85000"/>
            </a:schemeClr>
          </a:fgClr>
          <a:bgClr>
            <a:schemeClr val="bg1"/>
          </a:bgClr>
        </a:pattFill>
        <a:effectLst/>
      </p:bgPr>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normAutofit/>
          </a:bodyPr>
          <a:lstStyle>
            <a:lvl1pPr marL="0" indent="0" algn="ctr">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Rectangle 6"/>
          <p:cNvSpPr/>
          <p:nvPr/>
        </p:nvSpPr>
        <p:spPr>
          <a:xfrm>
            <a:off x="62931" y="1449303"/>
            <a:ext cx="9021537" cy="1527349"/>
          </a:xfrm>
          <a:prstGeom prst="rect">
            <a:avLst/>
          </a:prstGeom>
          <a:solidFill>
            <a:srgbClr val="BF5700"/>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
        <p:nvSpPr>
          <p:cNvPr id="14" name="Rectangle 13"/>
          <p:cNvSpPr/>
          <p:nvPr userDrawn="1"/>
        </p:nvSpPr>
        <p:spPr>
          <a:xfrm>
            <a:off x="62931" y="1396720"/>
            <a:ext cx="9021537" cy="120580"/>
          </a:xfrm>
          <a:prstGeom prst="rect">
            <a:avLst/>
          </a:prstGeom>
          <a:solidFill>
            <a:srgbClr val="FFB171"/>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TextBox 14"/>
          <p:cNvSpPr txBox="1"/>
          <p:nvPr userDrawn="1"/>
        </p:nvSpPr>
        <p:spPr>
          <a:xfrm>
            <a:off x="2895600" y="5214176"/>
            <a:ext cx="3352800" cy="769441"/>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Turbulence and Turbine Cooling</a:t>
            </a:r>
          </a:p>
          <a:p>
            <a:pPr algn="ctr"/>
            <a:r>
              <a:rPr lang="en-US" sz="1600" dirty="0">
                <a:latin typeface="Arial" panose="020B0604020202020204" pitchFamily="34" charset="0"/>
                <a:cs typeface="Arial" panose="020B0604020202020204" pitchFamily="34" charset="0"/>
              </a:rPr>
              <a:t>Research Laboratory</a:t>
            </a:r>
          </a:p>
          <a:p>
            <a:pPr algn="ctr"/>
            <a:r>
              <a:rPr lang="en-US" sz="1100" dirty="0">
                <a:latin typeface="Arial" panose="020B0604020202020204" pitchFamily="34" charset="0"/>
                <a:cs typeface="Arial" panose="020B0604020202020204" pitchFamily="34" charset="0"/>
              </a:rPr>
              <a:t>University of Texas, Austin</a:t>
            </a:r>
          </a:p>
        </p:txBody>
      </p:sp>
      <p:pic>
        <p:nvPicPr>
          <p:cNvPr id="1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769744" y="6011373"/>
            <a:ext cx="161607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Slide Number Placeholder 5"/>
          <p:cNvSpPr>
            <a:spLocks noGrp="1"/>
          </p:cNvSpPr>
          <p:nvPr>
            <p:ph type="sldNum" sz="quarter" idx="12"/>
          </p:nvPr>
        </p:nvSpPr>
        <p:spPr/>
        <p:txBody>
          <a:bodyPr/>
          <a:lstStyle/>
          <a:p>
            <a:fld id="{EDC73DFD-7889-495D-A176-87C867C74011}"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lvl1pPr>
              <a:buClr>
                <a:srgbClr val="BF5700"/>
              </a:buClr>
              <a:defRPr/>
            </a:lvl1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userDrawn="1"/>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a:xfrm flipV="1">
            <a:off x="69412" y="2376830"/>
            <a:ext cx="9013515" cy="91440"/>
          </a:xfrm>
          <a:prstGeom prst="rect">
            <a:avLst/>
          </a:prstGeom>
          <a:solidFill>
            <a:srgbClr val="BF5700"/>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rgbClr val="CF6B28"/>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DC73DFD-7889-495D-A176-87C867C7401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7" name="Slide Number Placeholder 6"/>
          <p:cNvSpPr>
            <a:spLocks noGrp="1"/>
          </p:cNvSpPr>
          <p:nvPr>
            <p:ph type="sldNum" sz="quarter" idx="12"/>
          </p:nvPr>
        </p:nvSpPr>
        <p:spPr/>
        <p:txBody>
          <a:bodyPr/>
          <a:lstStyle/>
          <a:p>
            <a:fld id="{EDC73DFD-7889-495D-A176-87C867C74011}"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9" name="Slide Number Placeholder 8"/>
          <p:cNvSpPr>
            <a:spLocks noGrp="1"/>
          </p:cNvSpPr>
          <p:nvPr>
            <p:ph type="sldNum" sz="quarter" idx="12"/>
          </p:nvPr>
        </p:nvSpPr>
        <p:spPr/>
        <p:txBody>
          <a:bodyPr/>
          <a:lstStyle/>
          <a:p>
            <a:fld id="{EDC73DFD-7889-495D-A176-87C867C74011}"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lvl1pPr>
              <a:buClr>
                <a:srgbClr val="BF5700"/>
              </a:buClr>
              <a:defRPr/>
            </a:lvl1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5"/>
          <p:cNvSpPr>
            <a:spLocks noGrp="1"/>
          </p:cNvSpPr>
          <p:nvPr>
            <p:ph type="sldNum" sz="quarter" idx="12"/>
          </p:nvPr>
        </p:nvSpPr>
        <p:spPr>
          <a:xfrm>
            <a:off x="146304" y="6210300"/>
            <a:ext cx="457200" cy="457200"/>
          </a:xfrm>
        </p:spPr>
        <p:txBody>
          <a:bodyPr/>
          <a:lstStyle/>
          <a:p>
            <a:fld id="{EDC73DFD-7889-495D-A176-87C867C7401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xfrm>
            <a:off x="146304" y="6210300"/>
            <a:ext cx="457200" cy="457200"/>
          </a:xfrm>
        </p:spPr>
        <p:txBody>
          <a:bodyPr/>
          <a:lstStyle/>
          <a:p>
            <a:fld id="{EDC73DFD-7889-495D-A176-87C867C7401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Slide Number Placeholder 5"/>
          <p:cNvSpPr>
            <a:spLocks noGrp="1"/>
          </p:cNvSpPr>
          <p:nvPr>
            <p:ph type="sldNum" sz="quarter" idx="12"/>
          </p:nvPr>
        </p:nvSpPr>
        <p:spPr>
          <a:xfrm>
            <a:off x="146304" y="6210300"/>
            <a:ext cx="457200" cy="457200"/>
          </a:xfrm>
        </p:spPr>
        <p:txBody>
          <a:bodyPr/>
          <a:lstStyle/>
          <a:p>
            <a:fld id="{EDC73DFD-7889-495D-A176-87C867C7401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
        <p:nvSpPr>
          <p:cNvPr id="10" name="Slide Number Placeholder 5"/>
          <p:cNvSpPr>
            <a:spLocks noGrp="1"/>
          </p:cNvSpPr>
          <p:nvPr>
            <p:ph type="sldNum" sz="quarter" idx="12"/>
          </p:nvPr>
        </p:nvSpPr>
        <p:spPr>
          <a:xfrm>
            <a:off x="146304" y="6210300"/>
            <a:ext cx="457200" cy="457200"/>
          </a:xfrm>
        </p:spPr>
        <p:txBody>
          <a:bodyPr/>
          <a:lstStyle/>
          <a:p>
            <a:fld id="{EDC73DFD-7889-495D-A176-87C867C7401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23" name="Slide Number Placeholder 22"/>
          <p:cNvSpPr>
            <a:spLocks noGrp="1"/>
          </p:cNvSpPr>
          <p:nvPr>
            <p:ph type="sldNum" sz="quarter" idx="4"/>
          </p:nvPr>
        </p:nvSpPr>
        <p:spPr>
          <a:xfrm>
            <a:off x="146304" y="6210300"/>
            <a:ext cx="457200" cy="457200"/>
          </a:xfrm>
          <a:prstGeom prst="ellipse">
            <a:avLst/>
          </a:prstGeom>
          <a:noFill/>
        </p:spPr>
        <p:txBody>
          <a:bodyPr wrap="none" lIns="0" tIns="0" rIns="0" bIns="0" anchor="ctr" anchorCtr="1">
            <a:noAutofit/>
          </a:bodyPr>
          <a:lstStyle>
            <a:lvl1pPr algn="ctr" eaLnBrk="1" latinLnBrk="0" hangingPunct="1">
              <a:defRPr kumimoji="0" sz="1400">
                <a:solidFill>
                  <a:schemeClr val="tx1"/>
                </a:solidFill>
                <a:latin typeface="+mj-lt"/>
                <a:ea typeface="+mj-ea"/>
                <a:cs typeface="+mj-cs"/>
              </a:defRPr>
            </a:lvl1pPr>
          </a:lstStyle>
          <a:p>
            <a:fld id="{EDC73DFD-7889-495D-A176-87C867C7401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rgbClr val="BF5700"/>
        </a:buClr>
        <a:buSzPct val="85000"/>
        <a:buFont typeface="Wingdings 2"/>
        <a:buChar char=""/>
        <a:defRPr kumimoji="0" sz="2600" kern="1200">
          <a:solidFill>
            <a:schemeClr val="tx1"/>
          </a:solidFill>
          <a:latin typeface="Arial" panose="020B0604020202020204" pitchFamily="34" charset="0"/>
          <a:ea typeface="+mn-ea"/>
          <a:cs typeface="Arial" panose="020B0604020202020204" pitchFamily="34"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Arial" panose="020B0604020202020204" pitchFamily="34" charset="0"/>
          <a:ea typeface="+mn-ea"/>
          <a:cs typeface="Arial" panose="020B0604020202020204" pitchFamily="34"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Arial" panose="020B0604020202020204" pitchFamily="34" charset="0"/>
          <a:ea typeface="+mn-ea"/>
          <a:cs typeface="Arial" panose="020B0604020202020204" pitchFamily="34"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Arial" panose="020B0604020202020204" pitchFamily="34" charset="0"/>
          <a:ea typeface="+mn-ea"/>
          <a:cs typeface="Arial" panose="020B0604020202020204" pitchFamily="34"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Arial" panose="020B0604020202020204" pitchFamily="34" charset="0"/>
          <a:ea typeface="+mn-ea"/>
          <a:cs typeface="Arial" panose="020B0604020202020204" pitchFamily="34"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k-</a:t>
            </a:r>
            <a:r>
              <a:rPr lang="el-GR" dirty="0"/>
              <a:t>ω</a:t>
            </a:r>
            <a:r>
              <a:rPr lang="en-US" dirty="0"/>
              <a:t> SST </a:t>
            </a:r>
            <a:r>
              <a:rPr lang="en-US" dirty="0" smtClean="0"/>
              <a:t>predicts really weird ingestion compared to Realizable </a:t>
            </a:r>
            <a:r>
              <a:rPr lang="en-US" dirty="0"/>
              <a:t>k-</a:t>
            </a:r>
            <a:r>
              <a:rPr lang="el-GR" dirty="0">
                <a:latin typeface="Franklin Gothic Book" panose="020B0503020102020204" pitchFamily="34" charset="0"/>
              </a:rPr>
              <a:t>ε</a:t>
            </a:r>
            <a:r>
              <a:rPr lang="en-US" dirty="0" smtClean="0"/>
              <a:t> </a:t>
            </a:r>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r="16251"/>
          <a:stretch/>
        </p:blipFill>
        <p:spPr>
          <a:xfrm>
            <a:off x="429847" y="1506057"/>
            <a:ext cx="3806092" cy="2920642"/>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8647" t="18496" r="24981" b="9057"/>
          <a:stretch/>
        </p:blipFill>
        <p:spPr>
          <a:xfrm>
            <a:off x="4497754" y="1506057"/>
            <a:ext cx="4189046" cy="2938585"/>
          </a:xfrm>
          <a:prstGeom prst="rect">
            <a:avLst/>
          </a:prstGeom>
        </p:spPr>
      </p:pic>
      <p:sp>
        <p:nvSpPr>
          <p:cNvPr id="8" name="TextBox 7"/>
          <p:cNvSpPr txBox="1"/>
          <p:nvPr/>
        </p:nvSpPr>
        <p:spPr>
          <a:xfrm>
            <a:off x="1735016" y="4426699"/>
            <a:ext cx="2274277" cy="369332"/>
          </a:xfrm>
          <a:prstGeom prst="rect">
            <a:avLst/>
          </a:prstGeom>
          <a:noFill/>
        </p:spPr>
        <p:txBody>
          <a:bodyPr wrap="square" rtlCol="0">
            <a:spAutoFit/>
          </a:bodyPr>
          <a:lstStyle/>
          <a:p>
            <a:r>
              <a:rPr lang="en-US" dirty="0" smtClean="0"/>
              <a:t>k-</a:t>
            </a:r>
            <a:r>
              <a:rPr lang="el-GR" dirty="0" smtClean="0">
                <a:latin typeface="Franklin Gothic Book" panose="020B0503020102020204" pitchFamily="34" charset="0"/>
              </a:rPr>
              <a:t>ω</a:t>
            </a:r>
            <a:r>
              <a:rPr lang="en-US" dirty="0" smtClean="0">
                <a:latin typeface="Franklin Gothic Book" panose="020B0503020102020204" pitchFamily="34" charset="0"/>
              </a:rPr>
              <a:t> SST</a:t>
            </a:r>
            <a:endParaRPr lang="en-US" dirty="0"/>
          </a:p>
        </p:txBody>
      </p:sp>
      <p:sp>
        <p:nvSpPr>
          <p:cNvPr id="9" name="TextBox 8"/>
          <p:cNvSpPr txBox="1"/>
          <p:nvPr/>
        </p:nvSpPr>
        <p:spPr>
          <a:xfrm>
            <a:off x="5756031" y="4426699"/>
            <a:ext cx="2274277" cy="369332"/>
          </a:xfrm>
          <a:prstGeom prst="rect">
            <a:avLst/>
          </a:prstGeom>
          <a:noFill/>
        </p:spPr>
        <p:txBody>
          <a:bodyPr wrap="square" rtlCol="0">
            <a:spAutoFit/>
          </a:bodyPr>
          <a:lstStyle/>
          <a:p>
            <a:r>
              <a:rPr lang="en-US" dirty="0" smtClean="0"/>
              <a:t>Realizable k-</a:t>
            </a:r>
            <a:r>
              <a:rPr lang="el-GR" dirty="0" smtClean="0">
                <a:latin typeface="Franklin Gothic Book" panose="020B0503020102020204" pitchFamily="34" charset="0"/>
              </a:rPr>
              <a:t>ε</a:t>
            </a:r>
            <a:endParaRPr lang="en-US" dirty="0"/>
          </a:p>
        </p:txBody>
      </p:sp>
      <p:sp>
        <p:nvSpPr>
          <p:cNvPr id="10" name="TextBox 9"/>
          <p:cNvSpPr txBox="1"/>
          <p:nvPr/>
        </p:nvSpPr>
        <p:spPr>
          <a:xfrm>
            <a:off x="547077" y="5595815"/>
            <a:ext cx="8206153" cy="923330"/>
          </a:xfrm>
          <a:prstGeom prst="rect">
            <a:avLst/>
          </a:prstGeom>
          <a:noFill/>
        </p:spPr>
        <p:txBody>
          <a:bodyPr wrap="square" rtlCol="0">
            <a:spAutoFit/>
          </a:bodyPr>
          <a:lstStyle/>
          <a:p>
            <a:r>
              <a:rPr lang="en-US" dirty="0"/>
              <a:t>k</a:t>
            </a:r>
            <a:r>
              <a:rPr lang="en-US" dirty="0" smtClean="0"/>
              <a:t>-</a:t>
            </a:r>
            <a:r>
              <a:rPr lang="el-GR" dirty="0" smtClean="0"/>
              <a:t>ω</a:t>
            </a:r>
            <a:r>
              <a:rPr lang="en-US" dirty="0" smtClean="0"/>
              <a:t> SST has some really strange ingestion that’s poorly diffused and really coherent. Temperature near the wall at the centerline of the film cooling hole is basically mainstream while Realizable k-</a:t>
            </a:r>
            <a:r>
              <a:rPr lang="el-GR" dirty="0" smtClean="0">
                <a:latin typeface="Franklin Gothic Book" panose="020B0503020102020204" pitchFamily="34" charset="0"/>
              </a:rPr>
              <a:t>ε</a:t>
            </a:r>
            <a:r>
              <a:rPr lang="en-US" dirty="0" smtClean="0">
                <a:latin typeface="Franklin Gothic Book" panose="020B0503020102020204" pitchFamily="34" charset="0"/>
              </a:rPr>
              <a:t> shows a much more realistic mixing</a:t>
            </a:r>
            <a:endParaRPr lang="en-US" dirty="0"/>
          </a:p>
        </p:txBody>
      </p:sp>
    </p:spTree>
    <p:extLst>
      <p:ext uri="{BB962C8B-B14F-4D97-AF65-F5344CB8AC3E}">
        <p14:creationId xmlns:p14="http://schemas.microsoft.com/office/powerpoint/2010/main" val="1958011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092" y="274638"/>
            <a:ext cx="8768862" cy="1143000"/>
          </a:xfrm>
        </p:spPr>
        <p:txBody>
          <a:bodyPr>
            <a:normAutofit fontScale="90000"/>
          </a:bodyPr>
          <a:lstStyle/>
          <a:p>
            <a:r>
              <a:rPr lang="en-US" dirty="0"/>
              <a:t>k-</a:t>
            </a:r>
            <a:r>
              <a:rPr lang="el-GR" dirty="0">
                <a:latin typeface="Franklin Gothic Book" panose="020B0503020102020204" pitchFamily="34" charset="0"/>
              </a:rPr>
              <a:t>ω</a:t>
            </a:r>
            <a:r>
              <a:rPr lang="en-US" dirty="0">
                <a:latin typeface="Franklin Gothic Book" panose="020B0503020102020204" pitchFamily="34" charset="0"/>
              </a:rPr>
              <a:t> </a:t>
            </a:r>
            <a:r>
              <a:rPr lang="en-US" dirty="0" smtClean="0">
                <a:latin typeface="Franklin Gothic Book" panose="020B0503020102020204" pitchFamily="34" charset="0"/>
              </a:rPr>
              <a:t>SST</a:t>
            </a:r>
            <a:r>
              <a:rPr lang="en-US" dirty="0" smtClean="0"/>
              <a:t> shows more coherency in the coolant Jet with a strange separation region</a:t>
            </a:r>
            <a:endParaRPr lang="en-US" dirty="0"/>
          </a:p>
        </p:txBody>
      </p:sp>
      <p:sp>
        <p:nvSpPr>
          <p:cNvPr id="3" name="Slide Number Placeholder 2"/>
          <p:cNvSpPr>
            <a:spLocks noGrp="1"/>
          </p:cNvSpPr>
          <p:nvPr>
            <p:ph type="sldNum" sz="quarter" idx="12"/>
          </p:nvPr>
        </p:nvSpPr>
        <p:spPr/>
        <p:txBody>
          <a:bodyPr/>
          <a:lstStyle/>
          <a:p>
            <a:fld id="{EDC73DFD-7889-495D-A176-87C867C74011}" type="slidenum">
              <a:rPr lang="en-US" smtClean="0"/>
              <a:t>2</a:t>
            </a:fld>
            <a:endParaRPr lang="en-US"/>
          </a:p>
        </p:txBody>
      </p:sp>
      <p:pic>
        <p:nvPicPr>
          <p:cNvPr id="5" name="Content Placeholder 4"/>
          <p:cNvPicPr>
            <a:picLocks noGrp="1" noChangeAspect="1"/>
          </p:cNvPicPr>
          <p:nvPr>
            <p:ph sz="quarter" idx="1"/>
          </p:nvPr>
        </p:nvPicPr>
        <p:blipFill rotWithShape="1">
          <a:blip r:embed="rId2">
            <a:extLst>
              <a:ext uri="{28A0092B-C50C-407E-A947-70E740481C1C}">
                <a14:useLocalDpi xmlns:a14="http://schemas.microsoft.com/office/drawing/2010/main" val="0"/>
              </a:ext>
            </a:extLst>
          </a:blip>
          <a:srcRect r="11855"/>
          <a:stretch/>
        </p:blipFill>
        <p:spPr>
          <a:xfrm>
            <a:off x="146305" y="1531815"/>
            <a:ext cx="4389553" cy="3200400"/>
          </a:xfr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2198" t="7434" r="11291" b="2262"/>
          <a:stretch/>
        </p:blipFill>
        <p:spPr>
          <a:xfrm>
            <a:off x="4628661" y="1531815"/>
            <a:ext cx="4219331" cy="3200400"/>
          </a:xfrm>
          <a:prstGeom prst="rect">
            <a:avLst/>
          </a:prstGeom>
        </p:spPr>
      </p:pic>
      <p:sp>
        <p:nvSpPr>
          <p:cNvPr id="7" name="TextBox 6"/>
          <p:cNvSpPr txBox="1"/>
          <p:nvPr/>
        </p:nvSpPr>
        <p:spPr>
          <a:xfrm>
            <a:off x="1793145" y="4774072"/>
            <a:ext cx="2274277" cy="369332"/>
          </a:xfrm>
          <a:prstGeom prst="rect">
            <a:avLst/>
          </a:prstGeom>
          <a:noFill/>
        </p:spPr>
        <p:txBody>
          <a:bodyPr wrap="square" rtlCol="0">
            <a:spAutoFit/>
          </a:bodyPr>
          <a:lstStyle/>
          <a:p>
            <a:r>
              <a:rPr lang="en-US" dirty="0" smtClean="0"/>
              <a:t>k-</a:t>
            </a:r>
            <a:r>
              <a:rPr lang="el-GR" dirty="0" smtClean="0">
                <a:latin typeface="Franklin Gothic Book" panose="020B0503020102020204" pitchFamily="34" charset="0"/>
              </a:rPr>
              <a:t>ω</a:t>
            </a:r>
            <a:r>
              <a:rPr lang="en-US" dirty="0" smtClean="0">
                <a:latin typeface="Franklin Gothic Book" panose="020B0503020102020204" pitchFamily="34" charset="0"/>
              </a:rPr>
              <a:t> SST</a:t>
            </a:r>
            <a:endParaRPr lang="en-US" dirty="0"/>
          </a:p>
        </p:txBody>
      </p:sp>
      <p:sp>
        <p:nvSpPr>
          <p:cNvPr id="8" name="TextBox 7"/>
          <p:cNvSpPr txBox="1"/>
          <p:nvPr/>
        </p:nvSpPr>
        <p:spPr>
          <a:xfrm>
            <a:off x="5873262" y="4732215"/>
            <a:ext cx="2274277" cy="369332"/>
          </a:xfrm>
          <a:prstGeom prst="rect">
            <a:avLst/>
          </a:prstGeom>
          <a:noFill/>
        </p:spPr>
        <p:txBody>
          <a:bodyPr wrap="square" rtlCol="0">
            <a:spAutoFit/>
          </a:bodyPr>
          <a:lstStyle/>
          <a:p>
            <a:r>
              <a:rPr lang="en-US" dirty="0" smtClean="0"/>
              <a:t>Realizable k-</a:t>
            </a:r>
            <a:r>
              <a:rPr lang="el-GR" dirty="0" smtClean="0">
                <a:latin typeface="Franklin Gothic Book" panose="020B0503020102020204" pitchFamily="34" charset="0"/>
              </a:rPr>
              <a:t>ε</a:t>
            </a:r>
            <a:endParaRPr lang="en-US" dirty="0"/>
          </a:p>
        </p:txBody>
      </p:sp>
      <p:sp>
        <p:nvSpPr>
          <p:cNvPr id="9" name="TextBox 8"/>
          <p:cNvSpPr txBox="1"/>
          <p:nvPr/>
        </p:nvSpPr>
        <p:spPr>
          <a:xfrm>
            <a:off x="525584" y="5392615"/>
            <a:ext cx="8206153" cy="1200329"/>
          </a:xfrm>
          <a:prstGeom prst="rect">
            <a:avLst/>
          </a:prstGeom>
          <a:noFill/>
        </p:spPr>
        <p:txBody>
          <a:bodyPr wrap="square" rtlCol="0">
            <a:spAutoFit/>
          </a:bodyPr>
          <a:lstStyle/>
          <a:p>
            <a:r>
              <a:rPr lang="en-US" dirty="0"/>
              <a:t>k</a:t>
            </a:r>
            <a:r>
              <a:rPr lang="en-US" dirty="0" smtClean="0"/>
              <a:t>-</a:t>
            </a:r>
            <a:r>
              <a:rPr lang="el-GR" dirty="0" smtClean="0"/>
              <a:t>ω</a:t>
            </a:r>
            <a:r>
              <a:rPr lang="en-US" dirty="0" smtClean="0"/>
              <a:t> SST handles the separation behavior within the hole strangely. Without data I can’t really say whether one or the other is correct. It seems odd that a high velocity region would exist directly inside the separation bubble but that might be a vortex. Realizable k-</a:t>
            </a:r>
            <a:r>
              <a:rPr lang="el-GR" dirty="0" smtClean="0"/>
              <a:t>ε</a:t>
            </a:r>
            <a:r>
              <a:rPr lang="en-US" dirty="0" smtClean="0"/>
              <a:t> diffuses much more rapidly</a:t>
            </a:r>
            <a:endParaRPr lang="en-US" dirty="0"/>
          </a:p>
        </p:txBody>
      </p:sp>
    </p:spTree>
    <p:extLst>
      <p:ext uri="{BB962C8B-B14F-4D97-AF65-F5344CB8AC3E}">
        <p14:creationId xmlns:p14="http://schemas.microsoft.com/office/powerpoint/2010/main" val="381006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292" y="274638"/>
            <a:ext cx="8233508" cy="1143000"/>
          </a:xfrm>
        </p:spPr>
        <p:txBody>
          <a:bodyPr>
            <a:normAutofit fontScale="90000"/>
          </a:bodyPr>
          <a:lstStyle/>
          <a:p>
            <a:r>
              <a:rPr lang="en-US" dirty="0"/>
              <a:t>k-</a:t>
            </a:r>
            <a:r>
              <a:rPr lang="el-GR" dirty="0">
                <a:latin typeface="Franklin Gothic Book" panose="020B0503020102020204" pitchFamily="34" charset="0"/>
              </a:rPr>
              <a:t>ω</a:t>
            </a:r>
            <a:r>
              <a:rPr lang="en-US" dirty="0">
                <a:latin typeface="Franklin Gothic Book" panose="020B0503020102020204" pitchFamily="34" charset="0"/>
              </a:rPr>
              <a:t> </a:t>
            </a:r>
            <a:r>
              <a:rPr lang="en-US" dirty="0" smtClean="0">
                <a:latin typeface="Franklin Gothic Book" panose="020B0503020102020204" pitchFamily="34" charset="0"/>
              </a:rPr>
              <a:t>SST</a:t>
            </a:r>
            <a:r>
              <a:rPr lang="en-US" dirty="0" smtClean="0"/>
              <a:t> seems to really </a:t>
            </a:r>
            <a:r>
              <a:rPr lang="en-US" dirty="0" err="1" smtClean="0"/>
              <a:t>underpredict</a:t>
            </a:r>
            <a:r>
              <a:rPr lang="en-US" dirty="0" smtClean="0"/>
              <a:t> diffusion and over-predict vortex strength</a:t>
            </a:r>
            <a:endParaRPr lang="en-US" dirty="0"/>
          </a:p>
        </p:txBody>
      </p:sp>
      <p:sp>
        <p:nvSpPr>
          <p:cNvPr id="3" name="Slide Number Placeholder 2"/>
          <p:cNvSpPr>
            <a:spLocks noGrp="1"/>
          </p:cNvSpPr>
          <p:nvPr>
            <p:ph type="sldNum" sz="quarter" idx="12"/>
          </p:nvPr>
        </p:nvSpPr>
        <p:spPr/>
        <p:txBody>
          <a:bodyPr/>
          <a:lstStyle/>
          <a:p>
            <a:fld id="{EDC73DFD-7889-495D-A176-87C867C74011}" type="slidenum">
              <a:rPr lang="en-US" smtClean="0"/>
              <a:t>3</a:t>
            </a:fld>
            <a:endParaRPr lang="en-US"/>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3936" t="37532" r="30427" b="23634"/>
          <a:stretch/>
        </p:blipFill>
        <p:spPr>
          <a:xfrm>
            <a:off x="5009661" y="1402006"/>
            <a:ext cx="3802185" cy="3701439"/>
          </a:xfrm>
          <a:prstGeom prst="rect">
            <a:avLst/>
          </a:prstGeom>
        </p:spPr>
      </p:pic>
      <p:pic>
        <p:nvPicPr>
          <p:cNvPr id="5" name="Content Placeholder 4"/>
          <p:cNvPicPr>
            <a:picLocks noGrp="1" noChangeAspect="1"/>
          </p:cNvPicPr>
          <p:nvPr>
            <p:ph sz="quarter" idx="1"/>
          </p:nvPr>
        </p:nvPicPr>
        <p:blipFill rotWithShape="1">
          <a:blip r:embed="rId3">
            <a:extLst>
              <a:ext uri="{28A0092B-C50C-407E-A947-70E740481C1C}">
                <a14:useLocalDpi xmlns:a14="http://schemas.microsoft.com/office/drawing/2010/main" val="0"/>
              </a:ext>
            </a:extLst>
          </a:blip>
          <a:srcRect t="4902" r="27007"/>
          <a:stretch/>
        </p:blipFill>
        <p:spPr>
          <a:xfrm>
            <a:off x="158874" y="1414585"/>
            <a:ext cx="4499096" cy="3767015"/>
          </a:xfrm>
        </p:spPr>
      </p:pic>
      <p:sp>
        <p:nvSpPr>
          <p:cNvPr id="8" name="TextBox 7"/>
          <p:cNvSpPr txBox="1"/>
          <p:nvPr/>
        </p:nvSpPr>
        <p:spPr>
          <a:xfrm>
            <a:off x="1793145" y="4774072"/>
            <a:ext cx="2274277" cy="369332"/>
          </a:xfrm>
          <a:prstGeom prst="rect">
            <a:avLst/>
          </a:prstGeom>
          <a:noFill/>
        </p:spPr>
        <p:txBody>
          <a:bodyPr wrap="square" rtlCol="0">
            <a:spAutoFit/>
          </a:bodyPr>
          <a:lstStyle/>
          <a:p>
            <a:r>
              <a:rPr lang="en-US" dirty="0" smtClean="0"/>
              <a:t>k-</a:t>
            </a:r>
            <a:r>
              <a:rPr lang="el-GR" dirty="0" smtClean="0">
                <a:latin typeface="Franklin Gothic Book" panose="020B0503020102020204" pitchFamily="34" charset="0"/>
              </a:rPr>
              <a:t>ω</a:t>
            </a:r>
            <a:r>
              <a:rPr lang="en-US" dirty="0" smtClean="0">
                <a:latin typeface="Franklin Gothic Book" panose="020B0503020102020204" pitchFamily="34" charset="0"/>
              </a:rPr>
              <a:t> SST</a:t>
            </a:r>
            <a:endParaRPr lang="en-US" dirty="0"/>
          </a:p>
        </p:txBody>
      </p:sp>
      <p:sp>
        <p:nvSpPr>
          <p:cNvPr id="9" name="TextBox 8"/>
          <p:cNvSpPr txBox="1"/>
          <p:nvPr/>
        </p:nvSpPr>
        <p:spPr>
          <a:xfrm>
            <a:off x="5873262" y="4732215"/>
            <a:ext cx="2274277" cy="369332"/>
          </a:xfrm>
          <a:prstGeom prst="rect">
            <a:avLst/>
          </a:prstGeom>
          <a:noFill/>
        </p:spPr>
        <p:txBody>
          <a:bodyPr wrap="square" rtlCol="0">
            <a:spAutoFit/>
          </a:bodyPr>
          <a:lstStyle/>
          <a:p>
            <a:r>
              <a:rPr lang="en-US" dirty="0" smtClean="0"/>
              <a:t>Realizable k-</a:t>
            </a:r>
            <a:r>
              <a:rPr lang="el-GR" dirty="0" smtClean="0">
                <a:latin typeface="Franklin Gothic Book" panose="020B0503020102020204" pitchFamily="34" charset="0"/>
              </a:rPr>
              <a:t>ε</a:t>
            </a:r>
            <a:endParaRPr lang="en-US" dirty="0"/>
          </a:p>
        </p:txBody>
      </p:sp>
      <p:sp>
        <p:nvSpPr>
          <p:cNvPr id="10" name="TextBox 9"/>
          <p:cNvSpPr txBox="1"/>
          <p:nvPr/>
        </p:nvSpPr>
        <p:spPr>
          <a:xfrm>
            <a:off x="480647" y="5190172"/>
            <a:ext cx="8206153" cy="1477328"/>
          </a:xfrm>
          <a:prstGeom prst="rect">
            <a:avLst/>
          </a:prstGeom>
          <a:noFill/>
        </p:spPr>
        <p:txBody>
          <a:bodyPr wrap="square" rtlCol="0">
            <a:spAutoFit/>
          </a:bodyPr>
          <a:lstStyle/>
          <a:p>
            <a:r>
              <a:rPr lang="en-US" dirty="0"/>
              <a:t>k</a:t>
            </a:r>
            <a:r>
              <a:rPr lang="en-US" dirty="0" smtClean="0"/>
              <a:t>-</a:t>
            </a:r>
            <a:r>
              <a:rPr lang="el-GR" dirty="0" smtClean="0"/>
              <a:t>ω</a:t>
            </a:r>
            <a:r>
              <a:rPr lang="en-US" dirty="0" smtClean="0"/>
              <a:t> SST shows a vortex going all the way from the inlet to the exit of the hole generated by the sharp turn in the inlet. Diffusion seems to be minimal both in terms of velocity and temperature. Realizable k-</a:t>
            </a:r>
            <a:r>
              <a:rPr lang="el-GR" dirty="0" smtClean="0">
                <a:latin typeface="Franklin Gothic Book" panose="020B0503020102020204" pitchFamily="34" charset="0"/>
              </a:rPr>
              <a:t>ε</a:t>
            </a:r>
            <a:r>
              <a:rPr lang="en-US" dirty="0" smtClean="0">
                <a:latin typeface="Franklin Gothic Book" panose="020B0503020102020204" pitchFamily="34" charset="0"/>
              </a:rPr>
              <a:t> does a very good job of predicting turbulence generation in sharp corners which might account for the </a:t>
            </a:r>
            <a:r>
              <a:rPr lang="en-US" smtClean="0">
                <a:latin typeface="Franklin Gothic Book" panose="020B0503020102020204" pitchFamily="34" charset="0"/>
              </a:rPr>
              <a:t>increased diffusion.</a:t>
            </a:r>
            <a:endParaRPr lang="en-US" dirty="0"/>
          </a:p>
        </p:txBody>
      </p:sp>
    </p:spTree>
    <p:extLst>
      <p:ext uri="{BB962C8B-B14F-4D97-AF65-F5344CB8AC3E}">
        <p14:creationId xmlns:p14="http://schemas.microsoft.com/office/powerpoint/2010/main" val="23392683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Franklin Gothic Book"/>
        <a:ea typeface=""/>
        <a:cs typeface=""/>
      </a:majorFont>
      <a:minorFont>
        <a:latin typeface="Arial"/>
        <a:ea typeface=""/>
        <a:cs typeface=""/>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40915</TotalTime>
  <Words>218</Words>
  <Application>Microsoft Office PowerPoint</Application>
  <PresentationFormat>On-screen Show (4:3)</PresentationFormat>
  <Paragraphs>14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Franklin Gothic Book</vt:lpstr>
      <vt:lpstr>Wingdings 2</vt:lpstr>
      <vt:lpstr>Equity</vt:lpstr>
      <vt:lpstr>k-ω SST predicts really weird ingestion compared to Realizable k-ε </vt:lpstr>
      <vt:lpstr>k-ω SST shows more coherency in the coolant Jet with a strange separation region</vt:lpstr>
      <vt:lpstr>k-ω SST seems to really underpredict diffusion and over-predict vortex strength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dc:creator>
  <cp:lastModifiedBy>Fraser</cp:lastModifiedBy>
  <cp:revision>2851</cp:revision>
  <cp:lastPrinted>2018-05-18T18:53:08Z</cp:lastPrinted>
  <dcterms:created xsi:type="dcterms:W3CDTF">2013-08-22T14:26:45Z</dcterms:created>
  <dcterms:modified xsi:type="dcterms:W3CDTF">2019-01-04T21:25:34Z</dcterms:modified>
</cp:coreProperties>
</file>